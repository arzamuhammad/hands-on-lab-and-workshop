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98952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80160"/>
            <a:ext cx="2834640" cy="39319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ube 6"/>
          <p:cNvSpPr/>
          <p:nvPr/>
        </p:nvSpPr>
        <p:spPr>
          <a:xfrm>
            <a:off x="9144000" y="2103120"/>
            <a:ext cx="1005840" cy="1005840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2103120"/>
            <a:ext cx="100584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46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914400" cy="457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685800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600" b="1" i="0">
                <a:solidFill>
                  <a:srgbClr val="1B2A3D"/>
                </a:solidFill>
                <a:latin typeface="Calibri Light"/>
              </a:rPr>
              <a:t>FROM ZERO TO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65836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200" b="0" i="0">
                <a:solidFill>
                  <a:srgbClr val="11567F"/>
                </a:solidFill>
                <a:latin typeface="Segoe UI"/>
              </a:rPr>
              <a:t>Understanding Data, Databases &amp; the World of Data Careers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4960"/>
            <a:ext cx="256032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Guest Lecture | Politeknik Gajah Tunggal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TODAY'S JOURNEY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371600"/>
            <a:ext cx="10911535" cy="5943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ube 8"/>
          <p:cNvSpPr/>
          <p:nvPr/>
        </p:nvSpPr>
        <p:spPr>
          <a:xfrm>
            <a:off x="868680" y="1444752"/>
            <a:ext cx="420624" cy="420624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447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990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What is data &amp; a database?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10911535" cy="5943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130552"/>
            <a:ext cx="420624" cy="420624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305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0848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Two worlds: OLTP vs OLAP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10911535" cy="5943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loud 16"/>
          <p:cNvSpPr/>
          <p:nvPr/>
        </p:nvSpPr>
        <p:spPr>
          <a:xfrm>
            <a:off x="868680" y="2816352"/>
            <a:ext cx="420624" cy="420624"/>
          </a:xfrm>
          <a:prstGeom prst="cloud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8163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7706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Then vs Now: on-premise to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29000"/>
            <a:ext cx="10911535" cy="5943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ube 20"/>
          <p:cNvSpPr/>
          <p:nvPr/>
        </p:nvSpPr>
        <p:spPr>
          <a:xfrm>
            <a:off x="868680" y="3502152"/>
            <a:ext cx="420624" cy="420624"/>
          </a:xfrm>
          <a:prstGeom prst="cub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021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4564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Careers in data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14800"/>
            <a:ext cx="10911535" cy="5943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187952"/>
            <a:ext cx="420624" cy="42062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187952"/>
            <a:ext cx="420624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142232"/>
            <a:ext cx="9601200" cy="6309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Meet SQL + hands-on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Data Is Everywhere Around You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840480" cy="4480560"/>
          </a:xfrm>
          <a:prstGeom prst="round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1" i="0">
                <a:solidFill>
                  <a:srgbClr val="71D3DC"/>
                </a:solidFill>
                <a:latin typeface="Segoe U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29184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Every chat, like, and video you watch creates data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Ride-hailing, e-wallets, and online shops run entirely on data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Today you'll learn how that data is stored, analyzed, and turned into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554480"/>
            <a:ext cx="6675120" cy="44805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ube 11"/>
          <p:cNvSpPr/>
          <p:nvPr/>
        </p:nvSpPr>
        <p:spPr>
          <a:xfrm>
            <a:off x="5212080" y="1920240"/>
            <a:ext cx="640080" cy="640080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92024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01952"/>
            <a:ext cx="18288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2C3E50"/>
                </a:solidFill>
                <a:latin typeface="Segoe UI"/>
              </a:rPr>
              <a:t>Every chat, like, and video you watch creates data</a:t>
            </a:r>
          </a:p>
        </p:txBody>
      </p:sp>
      <p:sp>
        <p:nvSpPr>
          <p:cNvPr id="15" name="Cube 14"/>
          <p:cNvSpPr/>
          <p:nvPr/>
        </p:nvSpPr>
        <p:spPr>
          <a:xfrm>
            <a:off x="8321040" y="1920240"/>
            <a:ext cx="640080" cy="640080"/>
          </a:xfrm>
          <a:prstGeom prst="cub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901952"/>
            <a:ext cx="18288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2C3E50"/>
                </a:solidFill>
                <a:latin typeface="Segoe UI"/>
              </a:rPr>
              <a:t>Ride-hailing, e-wallets, and online shops run entirely on data</a:t>
            </a:r>
          </a:p>
        </p:txBody>
      </p:sp>
      <p:sp>
        <p:nvSpPr>
          <p:cNvPr id="18" name="Cube 17"/>
          <p:cNvSpPr/>
          <p:nvPr/>
        </p:nvSpPr>
        <p:spPr>
          <a:xfrm>
            <a:off x="5212080" y="3566160"/>
            <a:ext cx="640080" cy="640080"/>
          </a:xfrm>
          <a:prstGeom prst="cub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547872"/>
            <a:ext cx="18288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2C3E50"/>
                </a:solidFill>
                <a:latin typeface="Segoe UI"/>
              </a:rPr>
              <a:t>Today you'll learn how that data is stored, analyzed, and turned into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PART 1 — UNDERSTANDING DATABASES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From Data to Decisions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160020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ube 8"/>
          <p:cNvSpPr/>
          <p:nvPr/>
        </p:nvSpPr>
        <p:spPr>
          <a:xfrm>
            <a:off x="896112" y="1764792"/>
            <a:ext cx="502920" cy="502920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6479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0992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Data = raw facts (numbers, names, dates)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0020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ube 12"/>
          <p:cNvSpPr/>
          <p:nvPr/>
        </p:nvSpPr>
        <p:spPr>
          <a:xfrm>
            <a:off x="6473952" y="1764792"/>
            <a:ext cx="502920" cy="502920"/>
          </a:xfrm>
          <a:prstGeom prst="cub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6479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0992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Information = data organized to have meaning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3090672"/>
            <a:ext cx="502920" cy="50292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09067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3580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Decision = action taken from that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926080"/>
            <a:ext cx="5120640" cy="9144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ube 20"/>
          <p:cNvSpPr/>
          <p:nvPr/>
        </p:nvSpPr>
        <p:spPr>
          <a:xfrm>
            <a:off x="6473952" y="3090672"/>
            <a:ext cx="502920" cy="502920"/>
          </a:xfrm>
          <a:prstGeom prst="cub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09067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035808"/>
            <a:ext cx="3977639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Databases are where this journey begins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What Is a Database?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01952"/>
            <a:ext cx="548640" cy="5486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A giant, super-organized digital filing cabinet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55448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ube 14"/>
          <p:cNvSpPr/>
          <p:nvPr/>
        </p:nvSpPr>
        <p:spPr>
          <a:xfrm>
            <a:off x="4661306" y="1901952"/>
            <a:ext cx="548640" cy="548640"/>
          </a:xfrm>
          <a:prstGeom prst="cub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1306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4730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Stores data so it can be found in an instant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ube 19"/>
          <p:cNvSpPr/>
          <p:nvPr/>
        </p:nvSpPr>
        <p:spPr>
          <a:xfrm>
            <a:off x="8389924" y="1901952"/>
            <a:ext cx="548640" cy="548640"/>
          </a:xfrm>
          <a:prstGeom prst="cub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9924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Even the contacts app on your phone is a mini-database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Why Every Enterprise Needs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18607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ube 9"/>
          <p:cNvSpPr/>
          <p:nvPr/>
        </p:nvSpPr>
        <p:spPr>
          <a:xfrm>
            <a:off x="859536" y="1783080"/>
            <a:ext cx="530352" cy="530352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Without a 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Data scattered in files &amp; spreadsheets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Slow, error-prone, hard to trust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No single source of truth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508760"/>
            <a:ext cx="5318607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52463" y="1783080"/>
            <a:ext cx="530352" cy="53035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4255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Real-world examples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5887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7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Banks: every transaction recorded safely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E-commerce: products, orders, payments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Hospitals: patient records on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PART 2 — OLTP VS OLAP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Two Worlds of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1554480"/>
            <a:ext cx="4572000" cy="43891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ube 8"/>
          <p:cNvSpPr/>
          <p:nvPr/>
        </p:nvSpPr>
        <p:spPr>
          <a:xfrm>
            <a:off x="2423160" y="3246120"/>
            <a:ext cx="1097280" cy="1097280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3246120"/>
            <a:ext cx="1097280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000"/>
              </a:lnSpc>
            </a:pPr>
            <a:r>
              <a:rPr sz="39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645920"/>
            <a:ext cx="5669280" cy="8229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1792224"/>
            <a:ext cx="45720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79222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Some systems are built to RECORD what happens (transactions)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697480"/>
            <a:ext cx="5669280" cy="8229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6440" y="2843784"/>
            <a:ext cx="457200" cy="45720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84378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7063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Others are built to ANALYZE what happened (insights)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749040"/>
            <a:ext cx="5669280" cy="8229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8-Point Star 19"/>
          <p:cNvSpPr/>
          <p:nvPr/>
        </p:nvSpPr>
        <p:spPr>
          <a:xfrm>
            <a:off x="5806440" y="3895344"/>
            <a:ext cx="457200" cy="457200"/>
          </a:xfrm>
          <a:prstGeom prst="star8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89534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2219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Let's use one retail store to see both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OLTP vs OLAP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18607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783080"/>
            <a:ext cx="530352" cy="530352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OLTP — Transactions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Example: you checkout &amp; pay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Fast, one record at a time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Many users, real-time, write-heavy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Always the latest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508760"/>
            <a:ext cx="5318607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entagon 16"/>
          <p:cNvSpPr/>
          <p:nvPr/>
        </p:nvSpPr>
        <p:spPr>
          <a:xfrm>
            <a:off x="6452463" y="1783080"/>
            <a:ext cx="530352" cy="530352"/>
          </a:xfrm>
          <a:prstGeom prst="homePlat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4255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OLAP — Analytics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5887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7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Example: 'top products last 3 months?'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Reads millions of rows, summarizes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Few analysts, read-heavy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Historical data over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Why It Matters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01952"/>
            <a:ext cx="548640" cy="5486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OLTP keeps the business running every second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55448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1306" y="1901952"/>
            <a:ext cx="548640" cy="54864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1306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4730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OLAP helps the business decide what to do next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ube 19"/>
          <p:cNvSpPr/>
          <p:nvPr/>
        </p:nvSpPr>
        <p:spPr>
          <a:xfrm>
            <a:off x="8389924" y="1901952"/>
            <a:ext cx="548640" cy="548640"/>
          </a:xfrm>
          <a:prstGeom prst="cub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9924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The world of data analytics lives in OLAP — your future playground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PART 3 — THEN VS NOW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The Old Way: On-Premise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18607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783080"/>
            <a:ext cx="530352" cy="530352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How it worked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Buy your own servers &amp; storage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Keep them in a special cooled room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A team maintains the hardware 24/7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508760"/>
            <a:ext cx="5318607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8-Point Star 16"/>
          <p:cNvSpPr/>
          <p:nvPr/>
        </p:nvSpPr>
        <p:spPr>
          <a:xfrm>
            <a:off x="6452463" y="1783080"/>
            <a:ext cx="530352" cy="530352"/>
          </a:xfrm>
          <a:prstGeom prst="star8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4255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The pain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5887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7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Huge upfront cost (CAPEX)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Capacity guessed years ahead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Storage &amp; compute locked together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Scaling up takes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Analogy: Owning a Private Generator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1554480"/>
            <a:ext cx="4572000" cy="438912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23160" y="3246120"/>
            <a:ext cx="1097280" cy="109728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3246120"/>
            <a:ext cx="1097280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000"/>
              </a:lnSpc>
            </a:pPr>
            <a:r>
              <a:rPr sz="3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645920"/>
            <a:ext cx="5669280" cy="8229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8-Point Star 11"/>
          <p:cNvSpPr/>
          <p:nvPr/>
        </p:nvSpPr>
        <p:spPr>
          <a:xfrm>
            <a:off x="5806440" y="1792224"/>
            <a:ext cx="457200" cy="457200"/>
          </a:xfrm>
          <a:prstGeom prst="star8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79222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Expensive to buy and maintain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697480"/>
            <a:ext cx="5669280" cy="8229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6440" y="2843784"/>
            <a:ext cx="457200" cy="45720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84378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7063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Fixed capacity — too big or too small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749040"/>
            <a:ext cx="5669280" cy="8229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06440" y="3895344"/>
            <a:ext cx="457200" cy="45720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89534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22192"/>
            <a:ext cx="448056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You handle every breakdown yourself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The New Way: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18607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783080"/>
            <a:ext cx="530352" cy="530352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What changed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Use a data platform over the internet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No hardware to buy or maintain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Spin resources up and down instantly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508760"/>
            <a:ext cx="5318607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52463" y="1783080"/>
            <a:ext cx="530352" cy="53035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4255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Why it's better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5887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7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Pay only for what you use (OPEX)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Elastic — scale in seconds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Small teams focus on data, not servers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The Big Idea: Storage Separates from Compute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ube 9"/>
          <p:cNvSpPr/>
          <p:nvPr/>
        </p:nvSpPr>
        <p:spPr>
          <a:xfrm>
            <a:off x="932688" y="1901952"/>
            <a:ext cx="548640" cy="548640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Storage (the data) and compute (the engine) scale independently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55448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1306" y="1901952"/>
            <a:ext cx="548640" cy="54864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1306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4730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Need more power? Add compute without touching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loud 19"/>
          <p:cNvSpPr/>
          <p:nvPr/>
        </p:nvSpPr>
        <p:spPr>
          <a:xfrm>
            <a:off x="8389924" y="1901952"/>
            <a:ext cx="548640" cy="548640"/>
          </a:xfrm>
          <a:prstGeom prst="cloud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9924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This is the core advantage of the modern cloud 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Analogy: Plugging into the Power Grid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01952"/>
            <a:ext cx="548640" cy="5486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No private generator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55448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1306" y="1901952"/>
            <a:ext cx="548640" cy="54864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1306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4730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Electricity on demand, billed by usage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loud 19"/>
          <p:cNvSpPr/>
          <p:nvPr/>
        </p:nvSpPr>
        <p:spPr>
          <a:xfrm>
            <a:off x="8389924" y="1901952"/>
            <a:ext cx="548640" cy="548640"/>
          </a:xfrm>
          <a:prstGeom prst="cloud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9924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That's how modern cloud data platforms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Modern Terms You'll Hear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840480" cy="4480560"/>
          </a:xfrm>
          <a:prstGeom prst="round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1" i="0">
                <a:solidFill>
                  <a:srgbClr val="71D3DC"/>
                </a:solidFill>
                <a:latin typeface="Segoe U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29184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Data Warehouse: structured data for analytics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Data Lake: raw data of any type, stored cheaply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71D3DC"/>
                </a:solidFill>
                <a:latin typeface="Segoe UI"/>
              </a:rPr>
              <a:t>●  </a:t>
            </a:r>
            <a:r>
              <a:rPr sz="1500">
                <a:solidFill>
                  <a:srgbClr val="FFFFFF"/>
                </a:solidFill>
                <a:latin typeface="Segoe UI"/>
              </a:rPr>
              <a:t>Lakehouse: best of both in one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554480"/>
            <a:ext cx="6675120" cy="448056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ube 11"/>
          <p:cNvSpPr/>
          <p:nvPr/>
        </p:nvSpPr>
        <p:spPr>
          <a:xfrm>
            <a:off x="5212080" y="1920240"/>
            <a:ext cx="640080" cy="640080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92024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01952"/>
            <a:ext cx="18288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2C3E50"/>
                </a:solidFill>
                <a:latin typeface="Segoe UI"/>
              </a:rPr>
              <a:t>Data Warehouse: structured data for analytics</a:t>
            </a:r>
          </a:p>
        </p:txBody>
      </p:sp>
      <p:sp>
        <p:nvSpPr>
          <p:cNvPr id="15" name="Cube 14"/>
          <p:cNvSpPr/>
          <p:nvPr/>
        </p:nvSpPr>
        <p:spPr>
          <a:xfrm>
            <a:off x="8321040" y="1920240"/>
            <a:ext cx="640080" cy="640080"/>
          </a:xfrm>
          <a:prstGeom prst="cub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901952"/>
            <a:ext cx="18288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2C3E50"/>
                </a:solidFill>
                <a:latin typeface="Segoe UI"/>
              </a:rPr>
              <a:t>Data Lake: raw data of any type, stored cheaply</a:t>
            </a:r>
          </a:p>
        </p:txBody>
      </p:sp>
      <p:sp>
        <p:nvSpPr>
          <p:cNvPr id="18" name="Cloud 17"/>
          <p:cNvSpPr/>
          <p:nvPr/>
        </p:nvSpPr>
        <p:spPr>
          <a:xfrm>
            <a:off x="5212080" y="3566160"/>
            <a:ext cx="640080" cy="640080"/>
          </a:xfrm>
          <a:prstGeom prst="cloud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547872"/>
            <a:ext cx="18288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 i="0">
                <a:solidFill>
                  <a:srgbClr val="2C3E50"/>
                </a:solidFill>
                <a:latin typeface="Segoe UI"/>
              </a:rPr>
              <a:t>Lakehouse: best of both in one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PART 4 — CAREERS IN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A Field Full of Opportunity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47189" y="1965960"/>
            <a:ext cx="640080" cy="64008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7189" y="19659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3088538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sz="4200" b="1" i="0">
                <a:solidFill>
                  <a:srgbClr val="29B5E8"/>
                </a:solidFill>
                <a:latin typeface="Calibri Light"/>
              </a:rPr>
              <a:t/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4114800"/>
            <a:ext cx="2722778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4297680"/>
            <a:ext cx="3088538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Most in-demand tech jobs globally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698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8698" y="155448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75807" y="1965960"/>
            <a:ext cx="640080" cy="64008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75807" y="19659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2788920"/>
            <a:ext cx="3088538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sz="4200" b="1" i="0">
                <a:solidFill>
                  <a:srgbClr val="11567F"/>
                </a:solidFill>
                <a:latin typeface="Calibri Light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34458" y="4114800"/>
            <a:ext cx="2722778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51578" y="4297680"/>
            <a:ext cx="3088538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Salary potential, even entry-level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155448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ube 23"/>
          <p:cNvSpPr/>
          <p:nvPr/>
        </p:nvSpPr>
        <p:spPr>
          <a:xfrm>
            <a:off x="9504425" y="1965960"/>
            <a:ext cx="640080" cy="640080"/>
          </a:xfrm>
          <a:prstGeom prst="cub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4425" y="196596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196" y="2788920"/>
            <a:ext cx="3088538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5400"/>
              </a:lnSpc>
            </a:pPr>
            <a:r>
              <a:rPr sz="4200" b="1" i="0">
                <a:solidFill>
                  <a:srgbClr val="71D3DC"/>
                </a:solidFill>
                <a:latin typeface="Calibri Light"/>
              </a:rPr>
              <a:t/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63076" y="4114800"/>
            <a:ext cx="2722778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80196" y="4297680"/>
            <a:ext cx="3088538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Industry needs data talent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Analogy: The Data Restaurant Team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01952"/>
            <a:ext cx="548640" cy="5486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It takes a whole team to run a great restaurant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55448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ube 14"/>
          <p:cNvSpPr/>
          <p:nvPr/>
        </p:nvSpPr>
        <p:spPr>
          <a:xfrm>
            <a:off x="4661306" y="1901952"/>
            <a:ext cx="548640" cy="548640"/>
          </a:xfrm>
          <a:prstGeom prst="cub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1306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4730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Each data role is like a member of that team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9924" y="1901952"/>
            <a:ext cx="548640" cy="54864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9924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Let's meet them one by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Meet the Team (1 of 2)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ube 9"/>
          <p:cNvSpPr/>
          <p:nvPr/>
        </p:nvSpPr>
        <p:spPr>
          <a:xfrm>
            <a:off x="859536" y="1783080"/>
            <a:ext cx="530352" cy="530352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Data Analyst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Reads sales reports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Gives insights to managers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Tools: SQL, BI dashboards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698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8698" y="150876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ube 16"/>
          <p:cNvSpPr/>
          <p:nvPr/>
        </p:nvSpPr>
        <p:spPr>
          <a:xfrm>
            <a:off x="4588154" y="1783080"/>
            <a:ext cx="530352" cy="530352"/>
          </a:xfrm>
          <a:prstGeom prst="cub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8154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9946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Data Scientist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51578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51578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Predicts what sells next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Builds ML models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Tools: Python, statistics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150876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ube 23"/>
          <p:cNvSpPr/>
          <p:nvPr/>
        </p:nvSpPr>
        <p:spPr>
          <a:xfrm>
            <a:off x="8316772" y="1783080"/>
            <a:ext cx="530352" cy="530352"/>
          </a:xfrm>
          <a:prstGeom prst="cub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6772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564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Data Engineer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80196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80196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Builds data pipelines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Supplies clean data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Tools: SQL, pipelines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Meet the Team (2 of 2)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ube 9"/>
          <p:cNvSpPr/>
          <p:nvPr/>
        </p:nvSpPr>
        <p:spPr>
          <a:xfrm>
            <a:off x="859536" y="1783080"/>
            <a:ext cx="530352" cy="530352"/>
          </a:xfrm>
          <a:prstGeom prst="cub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Data Architect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Designs the blueprint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Plans how data flows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29B5E8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Big-picture thinker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698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8698" y="150876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4588154" y="1783080"/>
            <a:ext cx="530352" cy="530352"/>
          </a:xfrm>
          <a:prstGeom prst="hexagon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8154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9946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Data Governance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51578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51578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Keeps data safe &amp; compliant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Ensures quality &amp; rules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11567F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Guardian of trust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1508760"/>
            <a:ext cx="3454298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150876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ube 23"/>
          <p:cNvSpPr/>
          <p:nvPr/>
        </p:nvSpPr>
        <p:spPr>
          <a:xfrm>
            <a:off x="8316772" y="1783080"/>
            <a:ext cx="530352" cy="530352"/>
          </a:xfrm>
          <a:prstGeom prst="cub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6772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564" y="1837944"/>
            <a:ext cx="2402738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Data Admin (DBA)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80196" y="2468880"/>
            <a:ext cx="3088538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80196" y="2606040"/>
            <a:ext cx="3088538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Keeps the 'warehouse' running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Fast, secure, available</a:t>
            </a:r>
          </a:p>
          <a:p>
            <a:pPr>
              <a:lnSpc>
                <a:spcPts val="2100"/>
              </a:lnSpc>
              <a:spcAft>
                <a:spcPts val="1000"/>
              </a:spcAft>
            </a:pPr>
            <a:r>
              <a:rPr sz="700">
                <a:solidFill>
                  <a:srgbClr val="71D3DC"/>
                </a:solidFill>
                <a:latin typeface="Segoe UI"/>
              </a:rPr>
              <a:t>●  </a:t>
            </a:r>
            <a:r>
              <a:rPr sz="1400">
                <a:solidFill>
                  <a:srgbClr val="2C3E50"/>
                </a:solidFill>
                <a:latin typeface="Segoe UI"/>
              </a:rPr>
              <a:t>Operations specialist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How Do I Start?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18607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783080"/>
            <a:ext cx="530352" cy="530352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Learn the basics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SQL — the language of data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Spreadsheets — quick analysis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One visualization tool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508760"/>
            <a:ext cx="5318607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52463" y="1783080"/>
            <a:ext cx="530352" cy="53035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1783080"/>
            <a:ext cx="530352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4255" y="1837944"/>
            <a:ext cx="426704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Then grow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5887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7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Practice on real datasets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Build small projects</a:t>
            </a:r>
          </a:p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Today's lab is your first step!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PART 5 — MEET SQL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SQL: How We Ask Questions to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01952"/>
            <a:ext cx="548640" cy="5486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SQL = Structured Query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55448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1306" y="1901952"/>
            <a:ext cx="548640" cy="54864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1306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4730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It reads almost like simple English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ube 19"/>
          <p:cNvSpPr/>
          <p:nvPr/>
        </p:nvSpPr>
        <p:spPr>
          <a:xfrm>
            <a:off x="8389924" y="1901952"/>
            <a:ext cx="548640" cy="548640"/>
          </a:xfrm>
          <a:prstGeom prst="cub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9924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You describe WHAT you want, the database finds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A Simple 'Wow' Example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54298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01952"/>
            <a:ext cx="548640" cy="5486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SELECT name FROM students WHERE major = 'IT';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554480"/>
            <a:ext cx="3454298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1306" y="1901952"/>
            <a:ext cx="548640" cy="54864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1306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4730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Instantly returns every IT student — from thousands of 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3454298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9924" y="1901952"/>
            <a:ext cx="548640" cy="54864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9924" y="1901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2788920"/>
            <a:ext cx="2942234" cy="2971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In the lab, you'll write queries just like this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Intro to Data Platforms | Politeknik Gajah Tunggal   ·   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320040"/>
            <a:ext cx="399301" cy="3657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914400" y="1371600"/>
            <a:ext cx="1097280" cy="1097280"/>
          </a:xfrm>
          <a:prstGeom prst="ellipse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05840"/>
            <a:ext cx="137160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5600"/>
              </a:lnSpc>
            </a:pPr>
            <a:r>
              <a:rPr sz="12000" b="0" i="0">
                <a:solidFill>
                  <a:srgbClr val="29B5E8"/>
                </a:solidFill>
                <a:latin typeface="Georgia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601200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2600" b="0" i="1">
                <a:solidFill>
                  <a:srgbClr val="FFFFFF"/>
                </a:solidFill>
                <a:latin typeface="Georgia"/>
              </a:rPr>
              <a:t>Today you will become an analyst, a data engineer, and a dashboard builder.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394960"/>
            <a:ext cx="73152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40"/>
            <a:ext cx="7315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>
                <a:solidFill>
                  <a:srgbClr val="71D3DC"/>
                </a:solidFill>
                <a:latin typeface="Segoe UI"/>
              </a:rPr>
              <a:t>Your next 2 hours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gradFill rotWithShape="1">
            <a:gsLst>
              <a:gs pos="0">
                <a:srgbClr val="71D3DC"/>
              </a:gs>
              <a:gs pos="100000">
                <a:srgbClr val="29B5E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1197904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926080"/>
            <a:ext cx="1051560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sz="6000" b="1" i="0">
                <a:solidFill>
                  <a:srgbClr val="FFFFFF"/>
                </a:solidFill>
                <a:latin typeface="Calibri Light"/>
              </a:rPr>
              <a:t>LET'S BUILD!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sz="2000" b="0" i="0">
                <a:solidFill>
                  <a:srgbClr val="71D3DC"/>
                </a:solidFill>
                <a:latin typeface="Segoe UI"/>
              </a:rPr>
              <a:t>Time for the hands-on 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5394960"/>
            <a:ext cx="393192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3949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Politeknik Gajah Tunggal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